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Monolithic 3D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8D7F2"/>
                </a:solidFill>
              </a:rPr>
              <a:t>RC delay of vertically integrated circuits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Literature review &amp; revised 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14300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16847D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2944" y="1197864"/>
            <a:ext cx="313639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Top-tier TFT circuit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87452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2984" y="1929384"/>
            <a:ext cx="2496312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 inter-tier dielectric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24231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2F5597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2944" y="2478024"/>
            <a:ext cx="313639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Bottom-tier TFT circuit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25712" y="2221992"/>
            <a:ext cx="0" cy="128016"/>
          </a:xfrm>
          <a:prstGeom prst="line">
            <a:avLst/>
          </a:prstGeom>
          <a:noFill/>
          <a:ln w="381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" y="41605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233C5F"/>
          </a:solidFill>
          <a:ln w="15240">
            <a:solidFill>
              <a:srgbClr val="A9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215384"/>
            <a:ext cx="4690872" cy="8046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question: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When is tM3D &lt; t2D?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" y="6080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AF7"/>
                </a:solidFill>
              </a:rPr>
              <a:t>Project 8 · MLE5003 · NUS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map for listeners with no background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380744"/>
            <a:ext cx="21305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Motivation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112264"/>
            <a:ext cx="2130552" cy="11704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interconnect RC delay matters; 2D vs M3D.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32588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380744"/>
            <a:ext cx="21305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Device &amp; link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1188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112264"/>
            <a:ext cx="2130552" cy="11704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driver / receiver / MIV mean; where R and C come from.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380744"/>
            <a:ext cx="21305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Measurement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2112264"/>
            <a:ext cx="2130552" cy="11704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measure inverter delay, 1T1R link R/C and ring oscillator frequency.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64040" y="132588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8904" y="1380744"/>
            <a:ext cx="21305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Decision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404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8904" y="2112264"/>
            <a:ext cx="2130552" cy="11704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matched 2D and M3D controls + SPICE to test tM3D &lt; t2D.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3977640"/>
            <a:ext cx="9875520" cy="731520"/>
          </a:xfrm>
          <a:prstGeom prst="roundRect">
            <a:avLst>
              <a:gd name="adj" fmla="val 10000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7864" y="4032504"/>
            <a:ext cx="976579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 story: shorter wires are useful only if added vertical parasitics stay small.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566160" y="34564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7A"/>
                </a:solidFill>
              </a:rPr>
              <a:t>Slides 3–4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4564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7A"/>
                </a:solidFill>
              </a:rPr>
              <a:t>Slides 5–7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2600" y="34564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7A"/>
                </a:solidFill>
              </a:rPr>
              <a:t>Slides 8–11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4564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7A"/>
                </a:solidFill>
              </a:rPr>
              <a:t>Slide 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Supervisor feedback addressed: outline, terminology, visual schematics, DOI links, and slide numbers.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 before the physics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definitions prevent confusion later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1051560" y="1234440"/>
            <a:ext cx="777240" cy="64008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2F55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936" y="148132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</a:rPr>
              <a:t>previous stage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5960" y="1554480"/>
            <a:ext cx="118872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143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197864"/>
            <a:ext cx="1261872" cy="7132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inter-tier via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118872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rot="5400000">
            <a:off x="6172200" y="1234440"/>
            <a:ext cx="777240" cy="64008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1684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4576" y="148132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9202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</a:rPr>
              <a:t>next stage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240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295144"/>
            <a:ext cx="171907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signal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71800" y="2240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2295144"/>
            <a:ext cx="171907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link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3D connection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224028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2295144"/>
            <a:ext cx="203911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signal/load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10972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1152144"/>
            <a:ext cx="295351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t2D = delay of planar reference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1837944"/>
            <a:ext cx="295351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tM3D = delay of stacked circuit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246888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2523744"/>
            <a:ext cx="295351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Pdyn ∝ α C VDD² f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680" y="3913632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" y="3968496"/>
            <a:ext cx="487375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MIV = Monolithic Inter-tier Via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(vertical electrical connection between tiers)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263640" y="3822192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3877056"/>
            <a:ext cx="4873752" cy="8503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Driver/receiver are roles, not special device names. A whole inverter can be a driver stage; another inverter can be the receiver stage.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Pdyn: dynamic switching power. α: switching activity. VDD: supply voltage. f: operating frequency.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M3D? Interconnect delay is the bottleneck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physics is just R + C + charging time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4</a:t>
            </a:r>
            <a:endParaRPr lang="en-US" sz="900" dirty="0"/>
          </a:p>
        </p:txBody>
      </p:sp>
      <p:pic>
        <p:nvPicPr>
          <p:cNvPr id="6" name="Image 0" descr="/mnt/data/rev_assets/science_interconnect_del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5860"/>
            <a:ext cx="46634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32120" y="1051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86984" y="1106424"/>
            <a:ext cx="263347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routing: long intra-tier wire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2212848"/>
            <a:ext cx="1097280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2286000"/>
            <a:ext cx="228600" cy="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2286000"/>
            <a:ext cx="228600" cy="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91072" y="1874520"/>
            <a:ext cx="685800" cy="146304"/>
          </a:xfrm>
          <a:prstGeom prst="rect">
            <a:avLst/>
          </a:prstGeom>
          <a:solidFill>
            <a:srgbClr val="DF8434"/>
          </a:solidFill>
          <a:ln w="12700">
            <a:solidFill>
              <a:srgbClr val="DF843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2020824"/>
            <a:ext cx="0" cy="13716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487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</a:rPr>
              <a:t>Driver 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738360" y="2212848"/>
            <a:ext cx="1097280" cy="146304"/>
          </a:xfrm>
          <a:prstGeom prst="rect">
            <a:avLst/>
          </a:prstGeom>
          <a:solidFill>
            <a:srgbClr val="16847D"/>
          </a:solidFill>
          <a:ln w="12700">
            <a:solidFill>
              <a:srgbClr val="16847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09760" y="2286000"/>
            <a:ext cx="228600" cy="0"/>
          </a:xfrm>
          <a:prstGeom prst="line">
            <a:avLst/>
          </a:prstGeom>
          <a:noFill/>
          <a:ln w="25400">
            <a:solidFill>
              <a:srgbClr val="16847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35640" y="2286000"/>
            <a:ext cx="228600" cy="0"/>
          </a:xfrm>
          <a:prstGeom prst="line">
            <a:avLst/>
          </a:prstGeom>
          <a:noFill/>
          <a:ln w="25400">
            <a:solidFill>
              <a:srgbClr val="16847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948672" y="1874520"/>
            <a:ext cx="685800" cy="146304"/>
          </a:xfrm>
          <a:prstGeom prst="rect">
            <a:avLst/>
          </a:prstGeom>
          <a:solidFill>
            <a:srgbClr val="DF8434"/>
          </a:solidFill>
          <a:ln w="12700">
            <a:solidFill>
              <a:srgbClr val="DF843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0" y="2020824"/>
            <a:ext cx="0" cy="13716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6880" y="2487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</a:rPr>
              <a:t>Receiver B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60920" y="2286000"/>
            <a:ext cx="2103120" cy="0"/>
          </a:xfrm>
          <a:prstGeom prst="line">
            <a:avLst/>
          </a:prstGeom>
          <a:noFill/>
          <a:ln w="50800">
            <a:solidFill>
              <a:srgbClr val="B94B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25146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4B4B"/>
                </a:solidFill>
              </a:rPr>
              <a:t>long wire → R and 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32120" y="32461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86984" y="3300984"/>
            <a:ext cx="263347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M3D routing: short vertical link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44000" y="39776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6847D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98864" y="4032504"/>
            <a:ext cx="135331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tier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144000" y="4983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2F5597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98864" y="5038344"/>
            <a:ext cx="135331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tier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875520" y="4434840"/>
            <a:ext cx="0" cy="548640"/>
          </a:xfrm>
          <a:prstGeom prst="line">
            <a:avLst/>
          </a:prstGeom>
          <a:noFill/>
          <a:ln w="50800">
            <a:solidFill>
              <a:srgbClr val="DF843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0" y="46177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F8434"/>
                </a:solidFill>
              </a:rPr>
              <a:t>MIV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577840" y="46177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32704" y="4672584"/>
            <a:ext cx="2084832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 = ρL / 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577840" y="53492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32704" y="5404104"/>
            <a:ext cx="2084832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 ≈ ε₀kA / d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814320" y="6035040"/>
            <a:ext cx="5977890" cy="402590"/>
          </a:xfrm>
          <a:prstGeom prst="roundRect">
            <a:avLst>
              <a:gd name="adj" fmla="val 22222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889250" y="6035040"/>
            <a:ext cx="5885180" cy="3479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M3D wins only if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 of shorter interconnects &gt; penalty from vertical parasitics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Reference: Kim et al., Science 386, eadk6189 (2024). DOI: https://doi.org/10.1126/science.adk6189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a vertically integrated circuit look like?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real device schematics to build intuition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5</a:t>
            </a:r>
            <a:endParaRPr lang="en-US" sz="900" dirty="0"/>
          </a:p>
        </p:txBody>
      </p:sp>
      <p:pic>
        <p:nvPicPr>
          <p:cNvPr id="6" name="Image 0" descr="/mnt/data/rev_assets/pez_mote2_mos2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23554"/>
            <a:ext cx="3429000" cy="18505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597"/>
                </a:solidFill>
              </a:rPr>
              <a:t>MoTe₂ / MoS₂ inverter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5597"/>
                </a:solidFill>
              </a:rPr>
              <a:t>2D-material CMOS example</a:t>
            </a:r>
            <a:endParaRPr lang="en-US" sz="1200" dirty="0"/>
          </a:p>
        </p:txBody>
      </p:sp>
      <p:pic>
        <p:nvPicPr>
          <p:cNvPr id="8" name="Image 1" descr="/mnt/data/rev_assets/lee_hybrid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47584"/>
            <a:ext cx="3657600" cy="23853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35204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847D"/>
                </a:solidFill>
              </a:rPr>
              <a:t>MoTe₂ / IGZO hybrid CMOS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847D"/>
                </a:solidFill>
              </a:rPr>
              <a:t>2D + oxide TFT example</a:t>
            </a:r>
            <a:endParaRPr lang="en-US" sz="1200" dirty="0"/>
          </a:p>
        </p:txBody>
      </p:sp>
      <p:pic>
        <p:nvPicPr>
          <p:cNvPr id="10" name="Image 2" descr="/mnt/data/rev_assets/deng_mac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089932"/>
            <a:ext cx="3429000" cy="19349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0" y="32461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F8434"/>
                </a:solidFill>
              </a:rPr>
              <a:t>MAC: disordered carbon 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F8434"/>
                </a:solidFill>
              </a:rPr>
              <a:t>candidate inter-tier dielectric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1188720" y="4663440"/>
            <a:ext cx="9784080" cy="777240"/>
          </a:xfrm>
          <a:prstGeom prst="roundRect">
            <a:avLst>
              <a:gd name="adj" fmla="val 9412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243584" y="4718304"/>
            <a:ext cx="967435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target: stacked TFTs + MAC inter-tier dielectric + measured vertical-circuit delay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Device examples: Pezeshki et al., ACS Nano 10 (2016). DOI: https://doi.org/10.1021/acsnano.5b06419 · Lee et al., ACS AMI 9 (2017). DOI: https://doi.org/10.1021/acsami.7b02838 · Deng Chi thesis / MAC section.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T/R structures: count the signal source and the load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signal-transmission test structures, not memory cells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106424"/>
            <a:ext cx="162763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1T0R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7A"/>
                </a:solidFill>
              </a:rPr>
              <a:t>driver only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051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1106424"/>
            <a:ext cx="162763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0T1R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34640" y="1572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7A"/>
                </a:solidFill>
              </a:rPr>
              <a:t>receiver only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1051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1106424"/>
            <a:ext cx="162763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1T1R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66360" y="1572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7A"/>
                </a:solidFill>
              </a:rPr>
              <a:t>point-to-point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051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106424"/>
            <a:ext cx="162763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1T2R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98080" y="1572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7A"/>
                </a:solidFill>
              </a:rPr>
              <a:t>fan-out =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29800" y="1051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84664" y="1106424"/>
            <a:ext cx="162763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2T1R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29800" y="1572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7A"/>
                </a:solidFill>
              </a:rPr>
              <a:t>shared receiver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7889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2843784"/>
            <a:ext cx="181051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Rdrv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3182112"/>
            <a:ext cx="1234440" cy="0"/>
          </a:xfrm>
          <a:prstGeom prst="line">
            <a:avLst/>
          </a:prstGeom>
          <a:noFill/>
          <a:ln w="3175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06240" y="27889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1104" y="2843784"/>
            <a:ext cx="190195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link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Rint + Cint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182112"/>
            <a:ext cx="1234440" cy="0"/>
          </a:xfrm>
          <a:prstGeom prst="line">
            <a:avLst/>
          </a:prstGeom>
          <a:noFill/>
          <a:ln w="3175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35240" y="27889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0104" y="2843784"/>
            <a:ext cx="208483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capacitance Cin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43000" y="4251960"/>
            <a:ext cx="8549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97864" y="4306824"/>
            <a:ext cx="8439912" cy="530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Role: transmit a voltage transition and measure how the link loads/slows the signal.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474720" y="52578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5312664"/>
            <a:ext cx="4645152" cy="5760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More receivers → Cload ↑ → delay ↑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T = transmitter / driver; R = receiver / load. Exact layout must follow the group’s mask design.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exactly do R and C come from?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them on a stacked cross-section and then build a π-RC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197864"/>
            <a:ext cx="373075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TFT / receiver gate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3291840" cy="310896"/>
          </a:xfrm>
          <a:prstGeom prst="roundRect">
            <a:avLst>
              <a:gd name="adj" fmla="val 23529"/>
            </a:avLst>
          </a:prstGeom>
          <a:solidFill>
            <a:srgbClr val="BFE6DF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883664"/>
            <a:ext cx="318211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metal / gate / contact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304288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359152"/>
            <a:ext cx="3182112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 / 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944368"/>
            <a:ext cx="3291840" cy="310896"/>
          </a:xfrm>
          <a:prstGeom prst="roundRect">
            <a:avLst>
              <a:gd name="adj" fmla="val 23529"/>
            </a:avLst>
          </a:prstGeom>
          <a:solidFill>
            <a:srgbClr val="CBDDF5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999232"/>
            <a:ext cx="318211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metal / drain node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21024"/>
            <a:ext cx="373075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TFT / driver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6200" y="2148840"/>
            <a:ext cx="868680" cy="0"/>
          </a:xfrm>
          <a:prstGeom prst="line">
            <a:avLst/>
          </a:prstGeom>
          <a:noFill/>
          <a:ln w="2286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28032" y="2029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F8434"/>
                </a:solidFill>
              </a:rPr>
              <a:t>Coverlap / Cfringe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2487168"/>
            <a:ext cx="868680" cy="0"/>
          </a:xfrm>
          <a:prstGeom prst="line">
            <a:avLst/>
          </a:prstGeom>
          <a:noFill/>
          <a:ln w="22860">
            <a:solidFill>
              <a:srgbClr val="16847D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28032" y="23774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47D"/>
                </a:solidFill>
              </a:rPr>
              <a:t>Cinter-tier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3108960"/>
            <a:ext cx="868680" cy="0"/>
          </a:xfrm>
          <a:prstGeom prst="line">
            <a:avLst/>
          </a:prstGeom>
          <a:noFill/>
          <a:ln w="22860">
            <a:solidFill>
              <a:srgbClr val="B94B4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28032" y="29992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4B4B"/>
                </a:solidFill>
              </a:rPr>
              <a:t>Rcontact / Rvia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14300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197864"/>
            <a:ext cx="3822192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Lumped π-RC starting model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40880" y="2880360"/>
            <a:ext cx="3566160" cy="0"/>
          </a:xfrm>
          <a:prstGeom prst="line">
            <a:avLst/>
          </a:prstGeom>
          <a:noFill/>
          <a:ln w="25400">
            <a:solidFill>
              <a:srgbClr val="232A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58775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0024" y="2642616"/>
            <a:ext cx="576072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Rdrv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32520" y="258775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87384" y="2642616"/>
            <a:ext cx="576072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880360"/>
            <a:ext cx="0" cy="822960"/>
          </a:xfrm>
          <a:prstGeom prst="line">
            <a:avLst/>
          </a:prstGeom>
          <a:noFill/>
          <a:ln w="25400">
            <a:solidFill>
              <a:srgbClr val="1684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2880360"/>
            <a:ext cx="0" cy="822960"/>
          </a:xfrm>
          <a:prstGeom prst="line">
            <a:avLst/>
          </a:prstGeom>
          <a:noFill/>
          <a:ln w="25400">
            <a:solidFill>
              <a:srgbClr val="1684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377647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47D"/>
                </a:solidFill>
              </a:rPr>
              <a:t>Cout + Cint/2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3776472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47D"/>
                </a:solidFill>
              </a:rPr>
              <a:t>Cint/2 + CL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45720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4626864"/>
            <a:ext cx="5148072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τE = Rdrv(Cout + Cint + CL) + Rint(Cint/2 + CL)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68680" y="544068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" y="5495544"/>
            <a:ext cx="1022299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 ≈ ε₀ k Aoverlap / d     |     R wire = ρL/A = Rs L/W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π-RC is a first model. Real delay is taken from transient waveform. Aoverlap is conductor overlap area for C.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Inverter: the basic logic test circuit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does, what it needs, and what graphs it gives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1330452"/>
            <a:ext cx="0" cy="403250"/>
          </a:xfrm>
          <a:prstGeom prst="line">
            <a:avLst/>
          </a:prstGeom>
          <a:noFill/>
          <a:ln w="25400">
            <a:solidFill>
              <a:srgbClr val="232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45132" y="1234440"/>
            <a:ext cx="480060" cy="172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5" b="1" dirty="0">
                <a:solidFill>
                  <a:srgbClr val="232A31"/>
                </a:solidFill>
              </a:rPr>
              <a:t>VDD</a:t>
            </a:r>
            <a:endParaRPr lang="en-US" sz="1145" dirty="0"/>
          </a:p>
        </p:txBody>
      </p:sp>
      <p:sp>
        <p:nvSpPr>
          <p:cNvPr id="8" name="Shape 6"/>
          <p:cNvSpPr/>
          <p:nvPr/>
        </p:nvSpPr>
        <p:spPr>
          <a:xfrm>
            <a:off x="1533906" y="1762506"/>
            <a:ext cx="864108" cy="403250"/>
          </a:xfrm>
          <a:prstGeom prst="rect">
            <a:avLst/>
          </a:prstGeom>
          <a:solidFill>
            <a:srgbClr val="F9E4E4"/>
          </a:solidFill>
          <a:ln w="15240">
            <a:solidFill>
              <a:srgbClr val="B9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2710" y="1829714"/>
            <a:ext cx="806501" cy="172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5" b="1" dirty="0">
                <a:solidFill>
                  <a:srgbClr val="B94B4B"/>
                </a:solidFill>
              </a:rPr>
              <a:t>p-FET</a:t>
            </a:r>
            <a:endParaRPr lang="en-US" sz="1145" dirty="0"/>
          </a:p>
        </p:txBody>
      </p:sp>
      <p:sp>
        <p:nvSpPr>
          <p:cNvPr id="10" name="Shape 8"/>
          <p:cNvSpPr/>
          <p:nvPr/>
        </p:nvSpPr>
        <p:spPr>
          <a:xfrm>
            <a:off x="1965960" y="2165756"/>
            <a:ext cx="0" cy="364846"/>
          </a:xfrm>
          <a:prstGeom prst="line">
            <a:avLst/>
          </a:prstGeom>
          <a:noFill/>
          <a:ln w="25400">
            <a:solidFill>
              <a:srgbClr val="232A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3906" y="2530602"/>
            <a:ext cx="864108" cy="403250"/>
          </a:xfrm>
          <a:prstGeom prst="rect">
            <a:avLst/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2710" y="2597810"/>
            <a:ext cx="806501" cy="172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5" b="1" dirty="0">
                <a:solidFill>
                  <a:srgbClr val="2F5597"/>
                </a:solidFill>
              </a:rPr>
              <a:t>n-FET</a:t>
            </a:r>
            <a:endParaRPr lang="en-US" sz="1145" dirty="0"/>
          </a:p>
        </p:txBody>
      </p:sp>
      <p:sp>
        <p:nvSpPr>
          <p:cNvPr id="13" name="Shape 11"/>
          <p:cNvSpPr/>
          <p:nvPr/>
        </p:nvSpPr>
        <p:spPr>
          <a:xfrm>
            <a:off x="1965960" y="2933852"/>
            <a:ext cx="0" cy="364846"/>
          </a:xfrm>
          <a:prstGeom prst="line">
            <a:avLst/>
          </a:prstGeom>
          <a:noFill/>
          <a:ln w="25400">
            <a:solidFill>
              <a:srgbClr val="232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6329" y="3327502"/>
            <a:ext cx="528066" cy="172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5" b="1" dirty="0">
                <a:solidFill>
                  <a:srgbClr val="232A31"/>
                </a:solidFill>
              </a:rPr>
              <a:t>GND</a:t>
            </a:r>
            <a:endParaRPr lang="en-US" sz="1145" dirty="0"/>
          </a:p>
        </p:txBody>
      </p:sp>
      <p:sp>
        <p:nvSpPr>
          <p:cNvPr id="15" name="Shape 13"/>
          <p:cNvSpPr/>
          <p:nvPr/>
        </p:nvSpPr>
        <p:spPr>
          <a:xfrm>
            <a:off x="1965960" y="2367382"/>
            <a:ext cx="691286" cy="0"/>
          </a:xfrm>
          <a:prstGeom prst="line">
            <a:avLst/>
          </a:prstGeom>
          <a:noFill/>
          <a:ln w="25400">
            <a:solidFill>
              <a:srgbClr val="1684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6449" y="2242566"/>
            <a:ext cx="672084" cy="2400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47D"/>
                </a:solidFill>
              </a:rPr>
              <a:t>VOUT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01852" y="1983334"/>
            <a:ext cx="432054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1852" y="2722626"/>
            <a:ext cx="432054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1852" y="1983334"/>
            <a:ext cx="0" cy="739292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5810" y="2367382"/>
            <a:ext cx="336042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750" y="2242566"/>
            <a:ext cx="480060" cy="2400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F8434"/>
                </a:solidFill>
              </a:rPr>
              <a:t>VIN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94200" y="1197610"/>
            <a:ext cx="2321560" cy="62103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1289304"/>
            <a:ext cx="2130552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Logic function:  Y = NOT(A)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340860" y="2080895"/>
            <a:ext cx="2428240" cy="1119505"/>
          </a:xfrm>
          <a:prstGeom prst="roundRect">
            <a:avLst>
              <a:gd name="adj" fmla="val 8889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4200" y="2220595"/>
            <a:ext cx="2297430" cy="71310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VIN = 0 → VOUT ≈ VDD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VIN = VDD → VOUT ≈ 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03720" y="11430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8584" y="1197864"/>
            <a:ext cx="1673352" cy="7589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CMOS inverter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p-FET + n-FET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0" y="11430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8864" y="1197864"/>
            <a:ext cx="2039112" cy="7589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Resistor-loaded inverter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1 transistor + 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(possible, less ideal)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242316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07224" y="2478024"/>
            <a:ext cx="3044952" cy="6675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Transistor + capacitor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dynamic/load element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static inverter alone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4206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4261104"/>
            <a:ext cx="1901952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measured graphs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154680" y="4160520"/>
            <a:ext cx="2240280" cy="828040"/>
          </a:xfrm>
          <a:prstGeom prst="roundRect">
            <a:avLst>
              <a:gd name="adj" fmla="val 14286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209290" y="4215130"/>
            <a:ext cx="2130425" cy="69405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TFT: ID–VG and ID–VD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performance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577840" y="4160520"/>
            <a:ext cx="2423160" cy="751205"/>
          </a:xfrm>
          <a:prstGeom prst="roundRect">
            <a:avLst>
              <a:gd name="adj" fmla="val 14286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450" y="4361180"/>
            <a:ext cx="2313305" cy="6273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Inverter VTC: VOUT–VIN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logic </a:t>
            </a: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183880" y="4160520"/>
            <a:ext cx="2697480" cy="744855"/>
          </a:xfrm>
          <a:prstGeom prst="roundRect">
            <a:avLst>
              <a:gd name="adj" fmla="val 14286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238490" y="4215130"/>
            <a:ext cx="2587625" cy="6965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Transient: VIN(t), VOUT(t)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switching </a:t>
            </a: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speed</a:t>
            </a:r>
            <a:endParaRPr lang="en-US" sz="1500" b="1" dirty="0">
              <a:solidFill>
                <a:srgbClr val="232A3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429000" y="53492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83864" y="5404104"/>
            <a:ext cx="5193792" cy="530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Drive strength:   t ≈ Cload · VDD / Ieff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Pezeshki (2016) and Lee (2017) use TFT inverters to connect transfer curves, VTC and dynamic switching.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measure propagation delay and edge 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the definitions directly on VIN/VOUT waveforms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5486400" cy="0"/>
          </a:xfrm>
          <a:prstGeom prst="line">
            <a:avLst/>
          </a:prstGeom>
          <a:noFill/>
          <a:ln w="15240">
            <a:solidFill>
              <a:srgbClr val="667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0" cy="3200400"/>
          </a:xfrm>
          <a:prstGeom prst="line">
            <a:avLst/>
          </a:prstGeom>
          <a:noFill/>
          <a:ln w="15240">
            <a:solidFill>
              <a:srgbClr val="667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54864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54864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069080"/>
            <a:ext cx="54864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1576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7A"/>
                </a:solidFill>
              </a:rPr>
              <a:t>50%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80160" y="4069080"/>
            <a:ext cx="1207008" cy="0"/>
          </a:xfrm>
          <a:prstGeom prst="line">
            <a:avLst/>
          </a:prstGeom>
          <a:noFill/>
          <a:ln w="31750">
            <a:solidFill>
              <a:srgbClr val="B94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389888"/>
            <a:ext cx="0" cy="2679192"/>
          </a:xfrm>
          <a:prstGeom prst="line">
            <a:avLst/>
          </a:prstGeom>
          <a:noFill/>
          <a:ln w="31750">
            <a:solidFill>
              <a:srgbClr val="B94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389888"/>
            <a:ext cx="3364992" cy="0"/>
          </a:xfrm>
          <a:prstGeom prst="line">
            <a:avLst/>
          </a:prstGeom>
          <a:noFill/>
          <a:ln w="31750">
            <a:solidFill>
              <a:srgbClr val="B9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30759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4B4B"/>
                </a:solidFill>
              </a:rPr>
              <a:t>VIN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16352" y="1389888"/>
            <a:ext cx="99109" cy="32432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5461" y="1714216"/>
            <a:ext cx="99109" cy="28506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4570" y="1999283"/>
            <a:ext cx="99109" cy="25055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13679" y="2249841"/>
            <a:ext cx="99109" cy="22022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2789" y="2470068"/>
            <a:ext cx="99109" cy="19356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1898" y="2663635"/>
            <a:ext cx="99109" cy="170135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1007" y="2833770"/>
            <a:ext cx="99109" cy="14954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10116" y="2983310"/>
            <a:ext cx="99109" cy="13143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9225" y="3114747"/>
            <a:ext cx="99109" cy="115526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8334" y="3230273"/>
            <a:ext cx="99109" cy="101541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07444" y="3331815"/>
            <a:ext cx="99109" cy="89249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06553" y="3421064"/>
            <a:ext cx="99109" cy="78445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5662" y="3499509"/>
            <a:ext cx="99109" cy="68949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04771" y="3568458"/>
            <a:ext cx="99109" cy="60602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3880" y="3629061"/>
            <a:ext cx="99109" cy="53266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02989" y="3682327"/>
            <a:ext cx="99109" cy="4681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02099" y="3729145"/>
            <a:ext cx="99109" cy="41151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1208" y="3770296"/>
            <a:ext cx="99109" cy="36169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0317" y="3806465"/>
            <a:ext cx="99109" cy="31791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99426" y="3838256"/>
            <a:ext cx="99109" cy="27942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98535" y="3866198"/>
            <a:ext cx="99109" cy="2456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7644" y="3890758"/>
            <a:ext cx="99109" cy="2158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6754" y="3912344"/>
            <a:ext cx="99109" cy="18974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95863" y="3931318"/>
            <a:ext cx="99109" cy="16677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4972" y="3947995"/>
            <a:ext cx="99109" cy="1465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94081" y="3962652"/>
            <a:ext cx="99109" cy="12884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3190" y="3975536"/>
            <a:ext cx="99109" cy="11324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92299" y="3986860"/>
            <a:ext cx="99109" cy="9953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91409" y="3996813"/>
            <a:ext cx="99109" cy="874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90518" y="4005561"/>
            <a:ext cx="99109" cy="7689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89627" y="4013250"/>
            <a:ext cx="99109" cy="6758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3931920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</a:rPr>
              <a:t>VOUT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87168" y="2788920"/>
            <a:ext cx="0" cy="1737360"/>
          </a:xfrm>
          <a:prstGeom prst="line">
            <a:avLst/>
          </a:prstGeom>
          <a:noFill/>
          <a:ln w="16510">
            <a:solidFill>
              <a:srgbClr val="B94B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69381" y="2788920"/>
            <a:ext cx="0" cy="1737360"/>
          </a:xfrm>
          <a:prstGeom prst="line">
            <a:avLst/>
          </a:prstGeom>
          <a:noFill/>
          <a:ln w="16510">
            <a:solidFill>
              <a:srgbClr val="2F55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87168" y="4471416"/>
            <a:ext cx="882213" cy="0"/>
          </a:xfrm>
          <a:prstGeom prst="line">
            <a:avLst/>
          </a:prstGeom>
          <a:noFill/>
          <a:ln w="1905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2699675" y="45262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F8434"/>
                </a:solidFill>
              </a:rPr>
              <a:t>tpHL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08524" y="1508760"/>
            <a:ext cx="0" cy="2560320"/>
          </a:xfrm>
          <a:prstGeom prst="line">
            <a:avLst/>
          </a:prstGeom>
          <a:noFill/>
          <a:ln w="15240">
            <a:solidFill>
              <a:srgbClr val="16847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8335" y="1508760"/>
            <a:ext cx="0" cy="2560320"/>
          </a:xfrm>
          <a:prstGeom prst="line">
            <a:avLst/>
          </a:prstGeom>
          <a:noFill/>
          <a:ln w="15240">
            <a:solidFill>
              <a:srgbClr val="16847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08524" y="4160520"/>
            <a:ext cx="1689811" cy="0"/>
          </a:xfrm>
          <a:prstGeom prst="line">
            <a:avLst/>
          </a:prstGeom>
          <a:noFill/>
          <a:ln w="17780">
            <a:solidFill>
              <a:srgbClr val="16847D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3250509" y="423367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847D"/>
                </a:solidFill>
              </a:rPr>
              <a:t>tr / tf (10–90%)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75120" y="123444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9984" y="1289304"/>
            <a:ext cx="41879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tpHL = 50% VIN ↑  →  50% VOUT 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675120" y="199339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9984" y="2048256"/>
            <a:ext cx="41879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tpLH = 50% VIN ↓  →  50% VOUT ↑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675120" y="275234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9984" y="2807208"/>
            <a:ext cx="418795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tp = ½(tpHL + tpLH)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675120" y="3749040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9984" y="3803904"/>
            <a:ext cx="4187952" cy="49377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single-pole RC:  τ = RC,   t50 ≈ 0.69RC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6675120" y="4526280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9984" y="4581144"/>
            <a:ext cx="4187952" cy="49377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10–90% edge:  tr, tf ≈ 2.2RC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1097280" y="5532120"/>
            <a:ext cx="9784080" cy="502920"/>
          </a:xfrm>
          <a:prstGeom prst="roundRect">
            <a:avLst>
              <a:gd name="adj" fmla="val 14545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52144" y="5586984"/>
            <a:ext cx="967435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check signal integrity: voltage swing, crosstalk, noise, droop and waveform distortion.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Definitions assume ideal step response for intuition; actual delays are extracted from measured transient waveforms.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evidence: real devices show parasitic-limited speed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actual device figures and label what is different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10</a:t>
            </a:r>
            <a:endParaRPr lang="en-US" sz="900" dirty="0"/>
          </a:p>
        </p:txBody>
      </p:sp>
      <p:pic>
        <p:nvPicPr>
          <p:cNvPr id="6" name="Image 0" descr="/mnt/data/rev_assets/pez_fig4_overlap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0249"/>
            <a:ext cx="3794760" cy="23401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37033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3758184"/>
            <a:ext cx="3547872" cy="8961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2 V / 1 kHz comparison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(a) SiO₂/p⁺-Si: large overlap → ~480 μs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(b) glass: lower overlap → much faster</a:t>
            </a:r>
            <a:endParaRPr lang="en-US" sz="1150" dirty="0"/>
          </a:p>
        </p:txBody>
      </p:sp>
      <p:pic>
        <p:nvPicPr>
          <p:cNvPr id="9" name="Image 1" descr="/mnt/data/rev_assets/pez_dynamic_25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12655"/>
            <a:ext cx="3337560" cy="23924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370332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18304" y="3758184"/>
            <a:ext cx="2953512" cy="7132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MoTe₂/MoS₂ inverter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~25 μs at 5 V, 20 kHz</a:t>
            </a:r>
            <a:endParaRPr lang="en-US" sz="1250" dirty="0"/>
          </a:p>
        </p:txBody>
      </p:sp>
      <p:pic>
        <p:nvPicPr>
          <p:cNvPr id="12" name="Image 2" descr="/mnt/data/rev_assets/lee_fig5_measur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505" y="1051560"/>
            <a:ext cx="3324031" cy="2606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0" y="37033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284464" y="3758184"/>
            <a:ext cx="3136392" cy="8046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MoTe₂/IGZO hybrid CMOS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~200 μs at 1 V, 1 kHz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R + overlap C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188720" y="5349240"/>
            <a:ext cx="969264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243584" y="5404104"/>
            <a:ext cx="9582912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Important: different devices and biases → not a speed ranking; use them to learn what to measure.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Pezeshki et al., ACS Nano 10, 1118–1125 (2016). DOI: https://doi.org/10.1021/acsnano.5b06419 · Lee et al., ACS AMI 9, 15592–15598 (2017). DOI: https://doi.org/10.1021/acsami.7b02838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1T1R test vehicle: measure R, C and delay independently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bridge between single TFTs and full inverter/ring-oscillator circuits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89304"/>
            <a:ext cx="1993392" cy="5760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 / TFT driver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572768"/>
            <a:ext cx="1097280" cy="0"/>
          </a:xfrm>
          <a:prstGeom prst="line">
            <a:avLst/>
          </a:prstGeom>
          <a:noFill/>
          <a:ln w="3175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117043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23944" y="1225296"/>
            <a:ext cx="1536192" cy="7132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link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MIV + MAC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572768"/>
            <a:ext cx="1097280" cy="0"/>
          </a:xfrm>
          <a:prstGeom prst="line">
            <a:avLst/>
          </a:prstGeom>
          <a:noFill/>
          <a:ln w="3175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12344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0024" y="1289304"/>
            <a:ext cx="1993392" cy="5760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receiver gate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Cin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09760" y="12344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64624" y="1289304"/>
            <a:ext cx="1627632" cy="5760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planar reference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7889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843784"/>
            <a:ext cx="20391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measurement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703320"/>
            <a:ext cx="1783080" cy="0"/>
          </a:xfrm>
          <a:prstGeom prst="line">
            <a:avLst/>
          </a:prstGeom>
          <a:noFill/>
          <a:ln w="25400">
            <a:solidFill>
              <a:srgbClr val="232A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429000"/>
            <a:ext cx="731520" cy="438912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483864"/>
            <a:ext cx="6217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 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57400" y="3429000"/>
            <a:ext cx="731520" cy="438912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12264" y="3483864"/>
            <a:ext cx="6217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306824"/>
            <a:ext cx="15361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 = V/I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11880" y="27889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843784"/>
            <a:ext cx="20391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measurement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3337560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C9EAE5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9624" y="3392424"/>
            <a:ext cx="1673352" cy="1097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electrode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3630168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9624" y="3685032"/>
            <a:ext cx="1673352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 / ILD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94760" y="4005072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CADDF6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9624" y="4059936"/>
            <a:ext cx="1673352" cy="1097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electrode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45262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4581144"/>
            <a:ext cx="19933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C(f,V) by impedance / C–V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2788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1384" y="2843784"/>
            <a:ext cx="22677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measurement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33375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1384" y="3392424"/>
            <a:ext cx="2267712" cy="11704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CH1: VIN(t)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CH2: VOUT(t)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tp, tr, tf, swing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37260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27464" y="2843784"/>
            <a:ext cx="18105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72600" y="33375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7464" y="3392424"/>
            <a:ext cx="1810512" cy="1673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fan-out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probe 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temperature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de-embed pads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R: force current and sense voltage. C: capacitor / impedance structure with open/short controls. Delay: pulse generator + two oscilloscope channels.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7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Ring oscillator + SPICE: the circuit-level closure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many stages, then explain the result with extracted R/C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29284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4739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A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1005840" y="1325880"/>
            <a:ext cx="777240" cy="64008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2F55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8216" y="157276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</a:rPr>
              <a:t>INV1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3063240" y="1325880"/>
            <a:ext cx="777240" cy="64008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2F55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5616" y="157276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01168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</a:rPr>
              <a:t>INV2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5120640" y="1325880"/>
            <a:ext cx="777240" cy="64008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2F55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3016" y="157276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1168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A31"/>
                </a:solidFill>
              </a:rPr>
              <a:t>INV3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65960" y="1627632"/>
            <a:ext cx="86868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3360" y="1627632"/>
            <a:ext cx="86868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08192" y="1627632"/>
            <a:ext cx="429768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627632"/>
            <a:ext cx="0" cy="1069848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97480"/>
            <a:ext cx="594360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1627632"/>
            <a:ext cx="0" cy="1069848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1627632"/>
            <a:ext cx="182880" cy="0"/>
          </a:xfrm>
          <a:prstGeom prst="line">
            <a:avLst/>
          </a:prstGeom>
          <a:noFill/>
          <a:ln w="2540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154680"/>
            <a:ext cx="2505075" cy="73152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" y="3209925"/>
            <a:ext cx="2275840" cy="62166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Odd number of inverters: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 = 3, 5, 7, …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37560" y="31546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3209544"/>
            <a:ext cx="258775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tp,stage ≈ 1 / (2Nfosc)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28790" y="3930015"/>
            <a:ext cx="2591435" cy="826770"/>
          </a:xfrm>
          <a:prstGeom prst="roundRect">
            <a:avLst>
              <a:gd name="adj" fmla="val 10000"/>
            </a:avLst>
          </a:prstGeom>
          <a:solidFill>
            <a:srgbClr val="E7F4F0"/>
          </a:solidFill>
          <a:ln w="15240">
            <a:solidFill>
              <a:srgbClr val="1684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8965" y="4032250"/>
            <a:ext cx="2331085" cy="62166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3 CMOS stages: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inverters × 2 TFTs = 6 TFTs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vertical links if stacked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102412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12273F"/>
          </a:solidFill>
          <a:ln w="15240">
            <a:solidFill>
              <a:srgbClr val="122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1078992"/>
            <a:ext cx="336499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example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18120" y="160020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72984" y="1655064"/>
            <a:ext cx="804672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Pulse VIN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32520" y="1810512"/>
            <a:ext cx="502920" cy="0"/>
          </a:xfrm>
          <a:prstGeom prst="line">
            <a:avLst/>
          </a:prstGeom>
          <a:noFill/>
          <a:ln w="22860">
            <a:solidFill>
              <a:srgbClr val="DF843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35440" y="16002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8F0FA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1655064"/>
            <a:ext cx="987552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TFT inverter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32720" y="1810512"/>
            <a:ext cx="640080" cy="0"/>
          </a:xfrm>
          <a:prstGeom prst="line">
            <a:avLst/>
          </a:prstGeom>
          <a:noFill/>
          <a:ln w="21590">
            <a:solidFill>
              <a:srgbClr val="232A3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97312" y="1618488"/>
            <a:ext cx="457200" cy="228600"/>
          </a:xfrm>
          <a:prstGeom prst="roundRect">
            <a:avLst>
              <a:gd name="adj" fmla="val 32000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52176" y="1673352"/>
            <a:ext cx="347472" cy="1188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3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Rint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0972800" y="1810512"/>
            <a:ext cx="0" cy="521208"/>
          </a:xfrm>
          <a:prstGeom prst="line">
            <a:avLst/>
          </a:prstGeom>
          <a:noFill/>
          <a:ln w="21590">
            <a:solidFill>
              <a:srgbClr val="1684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34472" y="240487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847D"/>
                </a:solidFill>
              </a:rPr>
              <a:t>Cint + CL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84745" y="2834640"/>
            <a:ext cx="3625215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D7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889250"/>
            <a:ext cx="3419475" cy="8045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Measured TFTs + extracted RC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 simulated VIN/VOUT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 matched 2D vs M3D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05840" y="489204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" y="4946904"/>
            <a:ext cx="994867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M3D wins when wire savings exceed added parasitic delay.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508760" y="5687568"/>
            <a:ext cx="9052560" cy="566928"/>
          </a:xfrm>
          <a:prstGeom prst="roundRect">
            <a:avLst>
              <a:gd name="adj" fmla="val 12903"/>
            </a:avLst>
          </a:prstGeom>
          <a:solidFill>
            <a:srgbClr val="FFF0D3"/>
          </a:solidFill>
          <a:ln w="15240">
            <a:solidFill>
              <a:srgbClr val="DF84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63624" y="5742432"/>
            <a:ext cx="8942832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question:  When does tM3D &lt; t2D in our stacked TFT platform?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7A"/>
                </a:solidFill>
              </a:rPr>
              <a:t>Ring oscillator reference: Xie et al., Nano Research 12, 1810–1816 (2019). DOI: https://doi.org/10.1007/s12274-019-2436-2 · SPICE compares calibrated device models + extracted parasitics.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6417</Words>
  <Application>WPS 演示</Application>
  <PresentationFormat>On-screen Show (16:9)</PresentationFormat>
  <Paragraphs>407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Cambria</vt:lpstr>
      <vt:lpstr>Cambria</vt:lpstr>
      <vt:lpstr>Cambria</vt:lpstr>
      <vt:lpstr>Segoe UI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Monolithic 3D Integration: RC Delay of Vertically Integrated Circuits</dc:title>
  <dc:creator>OpenAI</dc:creator>
  <dc:subject>Monolithic 3D Integration RC Delay</dc:subject>
  <cp:lastModifiedBy>XURUI ZHANG</cp:lastModifiedBy>
  <cp:revision>3</cp:revision>
  <dcterms:created xsi:type="dcterms:W3CDTF">2026-09-10T13:23:00Z</dcterms:created>
  <dcterms:modified xsi:type="dcterms:W3CDTF">2026-09-10T16:54:14Z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DFE4EDFC96854B4A8826745DA3108BDC_13</vt:lpwstr>
  </property>
</Properties>
</file>